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INDUPRO S.A. — Empresa y Situación Actual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9B0"/>
                </a:solidFill>
              </a:rPr>
              <a:t>SAP Signavio Regional Challenge 2026 · Caso de estudio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4206240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79576"/>
            <a:ext cx="4206240" cy="234086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216152"/>
            <a:ext cx="402335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9"/>
                </a:solidFill>
              </a:rPr>
              <a:t>PERFIL DE EMPRESA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371600"/>
            <a:ext cx="4023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🏭  Fabricante de galletas industriales — Ecuador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📦  ~1,200 pedidos / mes  (40/día hábil)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👥  Roles actuales: 8 departamentos en proceso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💻  Sistemas actuales: ERP Legacy + Sist. Financiero</a:t>
            </a:r>
          </a:p>
          <a:p>
            <a:pPr algn="l"/>
            <a:r>
              <a:rPr sz="950" b="1">
                <a:solidFill>
                  <a:srgbClr val="8A99B0"/>
                </a:solidFill>
              </a:rPr>
              <a:t>     (sin integración entre ellos)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🔗  Pedidos vía correo/teléfono → digitación en Excel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📋  QC reactivo al final → 18% de reproceso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143000"/>
            <a:ext cx="429768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663440" y="1179576"/>
            <a:ext cx="4297680" cy="234086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216152"/>
            <a:ext cx="4114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B2A49"/>
                </a:solidFill>
              </a:rPr>
              <a:t>8 PROBLEMAS IDENTIFICADOS (AS-IS)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1371600"/>
            <a:ext cx="4114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P1  Validación manual en Excel → errores frecuentes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P2  Sin integración: Sistema Financiero ↔ ERP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P3  Consulta de stock en registros físicos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P4  Confirmación manual → 20 min de espera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P5  Órdenes de producción en papel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P6  QC reactivo al final → 18% de lotes rechazados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P7  Asignación de transporte por llamadas telefónicas</a:t>
            </a:r>
          </a:p>
          <a:p>
            <a:pPr algn="l"/>
            <a:r>
              <a:rPr sz="950" b="0">
                <a:solidFill>
                  <a:srgbClr val="444444"/>
                </a:solidFill>
              </a:rPr>
              <a:t>P8  Facturación manual → 20 min adicionales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3611880"/>
            <a:ext cx="8778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9"/>
                </a:solidFill>
              </a:rPr>
              <a:t>KPIs ACTUALES (ruta crítica: fabricación + reproceso)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82880" y="3886200"/>
            <a:ext cx="219456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82880" y="3886200"/>
            <a:ext cx="219456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28600" y="394106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9B0"/>
                </a:solidFill>
              </a:rPr>
              <a:t>Tiempo de ciclo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" y="41239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595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43891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⚠ Objetivo: &lt; 350 min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514600" y="3886200"/>
            <a:ext cx="219456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4600" y="3886200"/>
            <a:ext cx="219456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560320" y="394106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9B0"/>
                </a:solidFill>
              </a:rPr>
              <a:t>Costo por pedido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1239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$101.92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43891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⚠ Objetivo: &lt; $70.00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846320" y="3886200"/>
            <a:ext cx="219456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846320" y="3886200"/>
            <a:ext cx="219456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92040" y="3941063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9B0"/>
                </a:solidFill>
              </a:rPr>
              <a:t>Tasa de reproceso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4123944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18%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92040" y="4389120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⚠ Objetivo: &lt; 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78040" y="3886200"/>
            <a:ext cx="1828800" cy="9601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178040" y="3886200"/>
            <a:ext cx="182880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23759" y="3941063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A99B0"/>
                </a:solidFill>
              </a:rPr>
              <a:t>Sistemas integrados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59" y="41239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</a:rPr>
              <a:t>0 de 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23759" y="4389120"/>
            <a:ext cx="17373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392B"/>
                </a:solidFill>
              </a:rPr>
              <a:t>⚠ Silos desconectados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5029200"/>
            <a:ext cx="9144000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" y="5102352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99B0"/>
                </a:solidFill>
              </a:rPr>
              <a:t>📌  Nota: El caso documenta 555 min y $105.91 — valores que contienen errores aritméticos verificados. Valores correctos: 595 min / $101.92.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9B0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AS-IS — Proceso de Gestión de Pedidos (Estado Actual)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9B0"/>
                </a:solidFill>
              </a:rPr>
              <a:t>BPMN 2.0 · SAP Signavio Process Manager · 7 swimlanes · 15 actividades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8778240" cy="402336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2286000"/>
            <a:ext cx="8778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8A99B0"/>
                </a:solidFill>
              </a:rPr>
              <a:t>[ INSERTAR AQUÍ: Captura del diagrama AS-IS desde SAP Signavio ]
Archivo: INDUPRO_ASIS_Corregido_v2.bpmn
Exportar desde Signavio: Diagrama → Export → PNG/SVG → pegar aquí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0" y="1143000"/>
            <a:ext cx="2011680" cy="7772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03720" y="1188720"/>
            <a:ext cx="1920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⏱ CUELLO DE BOTELLA
Verif. crédito + stock: 110 min
(sin integración, secuencial)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" y="4297680"/>
            <a:ext cx="2103120" cy="749808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28600" y="4343400"/>
            <a:ext cx="2011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FFFFFF"/>
                </a:solidFill>
              </a:rPr>
              <a:t>♻ REPROCESO
18% de lotes rechazados en QC
+90 min por pedido afectado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5120640"/>
            <a:ext cx="9144000" cy="91440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51663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DURACIÓN TOTAL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53766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595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51663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COSTO/PEDIDO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31720" y="53766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$101.92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51663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TASA REPROCESO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53766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18%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5166360"/>
            <a:ext cx="2011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8A99B0"/>
                </a:solidFill>
              </a:rPr>
              <a:t>ERRORES MANUALES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537667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</a:rPr>
              <a:t>Altos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9B0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Propuesta de Rediseño — TO-BE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9B0"/>
                </a:solidFill>
              </a:rPr>
              <a:t>4 palancas de mejora · $50,000 · 2 nuevos roles · 90 días de implementación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2103120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33856"/>
            <a:ext cx="2103120" cy="15544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1. AUTOMATIZACIÓN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44752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Validaciones, confirmaciones
y factura: 0 intervención humana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23160" y="1097280"/>
            <a:ext cx="2103120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423160" y="1133856"/>
            <a:ext cx="2103120" cy="15544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14600" y="1170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0AB00"/>
                </a:solidFill>
              </a:rPr>
              <a:t>2. PARALELIZACIÓN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444752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Crédito + Stock simultáneos
vía AND-Split/Join: −50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97280"/>
            <a:ext cx="210312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133856"/>
            <a:ext cx="2103120" cy="15544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170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B57"/>
                </a:solidFill>
              </a:rPr>
              <a:t>3. INTEGRACIÓN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444752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SAP Integration Suite como
middleware central (hub-and-spoke)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903720" y="1097280"/>
            <a:ext cx="2103120" cy="36576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903720" y="1133856"/>
            <a:ext cx="2103120" cy="155448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5160" y="117043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C0392B"/>
                </a:solidFill>
              </a:rPr>
              <a:t>4. QC PREVENTIVO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95160" y="1444752"/>
            <a:ext cx="19202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44444"/>
                </a:solidFill>
              </a:rPr>
              <a:t>Control en-proceso: tasa
de reproceso 18% → 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2788920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9"/>
                </a:solidFill>
              </a:rPr>
              <a:t>STACK TECNOLÓGICO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3090672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0070F2"/>
                </a:solidFill>
              </a:rPr>
              <a:t>🔗  SAP Integration Suite — Middleware central (orquesta todo)</a:t>
            </a:r>
          </a:p>
          <a:p>
            <a:pPr algn="l"/>
            <a:r>
              <a:rPr sz="900" b="0">
                <a:solidFill>
                  <a:srgbClr val="444444"/>
                </a:solidFill>
              </a:rPr>
              <a:t>🌐  Portal Web de Pedidos — Reemplaza correo/Excel (User Task)</a:t>
            </a:r>
          </a:p>
          <a:p>
            <a:pPr algn="l"/>
            <a:r>
              <a:rPr sz="900" b="0">
                <a:solidFill>
                  <a:srgbClr val="444444"/>
                </a:solidFill>
              </a:rPr>
              <a:t>📡  API Layer ERP Legacy — Stock en tiempo real (Service Task)</a:t>
            </a:r>
          </a:p>
          <a:p>
            <a:pPr algn="l"/>
            <a:r>
              <a:rPr sz="900" b="0">
                <a:solidFill>
                  <a:srgbClr val="444444"/>
                </a:solidFill>
              </a:rPr>
              <a:t>💳  API Sistema Financiero — Crédito automático (Service Task)</a:t>
            </a:r>
          </a:p>
          <a:p>
            <a:pPr algn="l"/>
            <a:r>
              <a:rPr sz="900" b="0">
                <a:solidFill>
                  <a:srgbClr val="444444"/>
                </a:solidFill>
              </a:rPr>
              <a:t>📱  Sistema QC Digital — Checklist en-proceso + inspección final</a:t>
            </a:r>
          </a:p>
          <a:p>
            <a:pPr algn="l"/>
            <a:r>
              <a:rPr sz="900" b="0">
                <a:solidFill>
                  <a:srgbClr val="444444"/>
                </a:solidFill>
              </a:rPr>
              <a:t>🚚  TMS Beetrack — Asignación automática + firma digital</a:t>
            </a:r>
          </a:p>
          <a:p>
            <a:pPr algn="l"/>
            <a:r>
              <a:rPr sz="900" b="0">
                <a:solidFill>
                  <a:srgbClr val="444444"/>
                </a:solidFill>
              </a:rPr>
              <a:t>🧾  Datil.me — Factura electrónica SRI automática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788920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9"/>
                </a:solidFill>
              </a:rPr>
              <a:t>2 NUEVOS ROLES (máx. permitido)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0" y="3090672"/>
            <a:ext cx="3931920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29200" y="3127248"/>
            <a:ext cx="3931920" cy="87782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120640" y="3163824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A49"/>
                </a:solidFill>
              </a:rPr>
              <a:t>Analista de Integración de Sistemas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3401568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$18/hr · Administra SAP Integration Suite
Monitorea APIs y flujos de integración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0" y="4133087"/>
            <a:ext cx="393192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0" y="4169663"/>
            <a:ext cx="3931920" cy="87782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20640" y="4206240"/>
            <a:ext cx="37490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B2A49"/>
                </a:solidFill>
              </a:rPr>
              <a:t>Operario de Control de Calidad en Proceso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20640" y="4443984"/>
            <a:ext cx="3749039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44444"/>
                </a:solidFill>
              </a:rPr>
              <a:t>$11/hr · Ejecuta QC digital durante fabricación
Reduce reproceso del 18% al 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5166360"/>
            <a:ext cx="9144000" cy="82296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8600" y="5230368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FFFFFF"/>
                </a:solidFill>
              </a:rPr>
              <a:t>📐  NOTACIÓN SIGNAVIO:  Los IT Systems (SAP Integration Suite, Portal Web, TMS, etc.) son ARTEFACTOS — NO son lanes. Se conectan a las tareas con asociación no direccional (línea punteada sin flecha). Registrar primero en el Signavio Dictionary (Entregable E3).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9B0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TO-BE — Proceso Rediseñado + Comparación KPIs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9B0"/>
                </a:solidFill>
              </a:rPr>
              <a:t>BPMN 2.0 · AND-Split/Join · IT System artifacts · Additional Participant · Tipos de tarea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5943600" cy="32918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2286000"/>
            <a:ext cx="5943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8A99B0"/>
                </a:solidFill>
              </a:rPr>
              <a:t>[ INSERTAR: Diagrama TO-BE desde SAP Signavio ]
Incluir: AND-Split antes de Act.2A/2B · IT Systems como artefactos
Additional Participant en Act.7 (Op.QC) y Act.9B (Inspector)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" y="1097280"/>
            <a:ext cx="1828800" cy="29260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8600" y="112471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TO-BE (rediseñado)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097280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9"/>
                </a:solidFill>
              </a:rPr>
              <a:t>COMPARACIÓN DE KPIs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417320"/>
            <a:ext cx="2743200" cy="3200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91072" y="1453896"/>
            <a:ext cx="594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KPI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1453896"/>
            <a:ext cx="594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AS-IS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73568" y="1453896"/>
            <a:ext cx="594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TO-BE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41080" y="1453896"/>
            <a:ext cx="59436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1764792"/>
            <a:ext cx="274320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181965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Tiempo ciclo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88352" y="181965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392B"/>
                </a:solidFill>
              </a:rPr>
              <a:t>595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81965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8B57"/>
                </a:solidFill>
              </a:rPr>
              <a:t>281 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181965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B57"/>
                </a:solidFill>
              </a:rPr>
              <a:t>−52.8%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2112264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91072" y="216712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Con reproceso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16712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392B"/>
                </a:solidFill>
              </a:rPr>
              <a:t>595 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79" y="216712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8B57"/>
                </a:solidFill>
              </a:rPr>
              <a:t>341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2167128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B57"/>
                </a:solidFill>
              </a:rPr>
              <a:t>−42.7%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263640" y="2459736"/>
            <a:ext cx="274320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91072" y="251460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Costo / pedido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88352" y="251460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392B"/>
                </a:solidFill>
              </a:rPr>
              <a:t>$101.92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55279" y="251460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8B57"/>
                </a:solidFill>
              </a:rPr>
              <a:t>$47.21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13648" y="2514600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B57"/>
                </a:solidFill>
              </a:rPr>
              <a:t>−53.7%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2807208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91072" y="286207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Con reproceso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88352" y="286207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392B"/>
                </a:solidFill>
              </a:rPr>
              <a:t>$101.92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286207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8B57"/>
                </a:solidFill>
              </a:rPr>
              <a:t>$55.21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13648" y="2862072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B57"/>
                </a:solidFill>
              </a:rPr>
              <a:t>−45.8%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3154680"/>
            <a:ext cx="274320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91072" y="320954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Tasa reproceso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88352" y="320954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392B"/>
                </a:solidFill>
              </a:rPr>
              <a:t>18%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320954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8B57"/>
                </a:solidFill>
              </a:rPr>
              <a:t>5%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613648" y="3209544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B57"/>
                </a:solidFill>
              </a:rPr>
              <a:t>−72.2%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63640" y="3502152"/>
            <a:ext cx="2743200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291072" y="355701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Tiempo verif.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88352" y="355701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392B"/>
                </a:solidFill>
              </a:rPr>
              <a:t>110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55279" y="355701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8B57"/>
                </a:solidFill>
              </a:rPr>
              <a:t>15 min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13648" y="3557016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B57"/>
                </a:solidFill>
              </a:rPr>
              <a:t>−86.4%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263640" y="3849624"/>
            <a:ext cx="2743200" cy="329184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91072" y="3904487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Facturación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88352" y="3904487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C0392B"/>
                </a:solidFill>
              </a:rPr>
              <a:t>20 min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955279" y="3904487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2E8B57"/>
                </a:solidFill>
              </a:rPr>
              <a:t>5 min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13648" y="3904487"/>
            <a:ext cx="594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E8B57"/>
                </a:solidFill>
              </a:rPr>
              <a:t>−75.0%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82880" y="4480560"/>
            <a:ext cx="5943600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82880" y="4553712"/>
            <a:ext cx="3657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9"/>
                </a:solidFill>
              </a:rPr>
              <a:t>SIMULACIÓN EN SAP SIGNAVIO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82880" y="4864608"/>
            <a:ext cx="1417320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82880" y="4901184"/>
            <a:ext cx="1417320" cy="107899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37744" y="493776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Duration
(minutos)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237744" y="5212080"/>
            <a:ext cx="12984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1→15, 2A→15, 2B→10
7→120, 8→30, 9B→60
12→45, 13→5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668780" y="4864608"/>
            <a:ext cx="1417320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668780" y="4901184"/>
            <a:ext cx="1417320" cy="107899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723644" y="493776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Frequency
(gateways)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723644" y="5212080"/>
            <a:ext cx="12984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¿Stock+Crédito OK?
SÍ 70% / NO 30%
¿QC OK? 95% / 5%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154680" y="4864608"/>
            <a:ext cx="1417320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154680" y="4901184"/>
            <a:ext cx="1417320" cy="107899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3209544" y="493776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Resources
(tarifas/hr)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3209544" y="5212080"/>
            <a:ext cx="12984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Ventas $12 · Finanzas $13
Planta $8 · QC $11
Integración $18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640580" y="4864608"/>
            <a:ext cx="1417320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640580" y="4901184"/>
            <a:ext cx="1417320" cy="1078992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695444" y="4937760"/>
            <a:ext cx="12984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70F2"/>
                </a:solidFill>
              </a:rPr>
              <a:t>Resultado
esperado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695444" y="5212080"/>
            <a:ext cx="129844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TO-BE: ~281 min
$47.21 / pedido
(sin reproceso)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82880" y="598932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8A99B0"/>
                </a:solidFill>
              </a:rPr>
              <a:t>⚠ Usar siempre MINUTOS · Costs tab = costos fijos (no labor) · Resources tab = tarifas/hora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8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9B0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73152" cy="1005840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" y="7315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</a:rPr>
              <a:t>Process Mining · Presupuesto · Conclusiones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94360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99B0"/>
                </a:solidFill>
              </a:rPr>
              <a:t>SAP Signavio Process Intelligence · $50,000 · ROI 754% a 12 meses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4160520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33856"/>
            <a:ext cx="4160520" cy="1920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70432"/>
            <a:ext cx="39776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F2"/>
                </a:solidFill>
              </a:rPr>
              <a:t>🔍  PROCESS MINING — SAP Signavio Process Intelligence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481328"/>
            <a:ext cx="3977639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>El sistema extrae datos transaccionales del ERP y genera</a:t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>automáticamente el proceso real (as-executed) vs. el modelo.</a:t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>✔  Detecta desviaciones entre el proceso modelado y el real</a:t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>✔  Identifica cuellos de botella con datos reales de producción</a:t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>✔  Alimenta el ciclo de mejora continua (TO-BE → nuevo AS-IS)</a:t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>✔  Fuente de datos: ERP Legacy + logs del SAP Integration Suite</a:t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850" b="0">
                <a:solidFill>
                  <a:srgbClr val="8A99B0"/>
                </a:solidFill>
              </a:rPr>
              <a:t>📖  "Tu TO-BE tiene que estar acompañado de mineria de proceso.</a:t>
            </a:r>
          </a:p>
          <a:p>
            <a:pPr algn="l"/>
            <a:r>
              <a:rPr sz="850" b="1">
                <a:solidFill>
                  <a:srgbClr val="8A99B0"/>
                </a:solidFill>
              </a:rPr>
              <a:t>     El sistema extrae datos, genera el proceso." -- Prof. Jimmy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097280"/>
            <a:ext cx="4389120" cy="36576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0" y="1133856"/>
            <a:ext cx="4389120" cy="19202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117043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9"/>
                </a:solidFill>
              </a:rPr>
              <a:t>💰  PRESUPUESTO — USD $50,000 (límite exacto)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1481328"/>
            <a:ext cx="4389120" cy="1600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1499616"/>
            <a:ext cx="3108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SAP Integration Suite (config + flujos)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1499616"/>
            <a:ext cx="1188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2E8B57"/>
                </a:solidFill>
              </a:rPr>
              <a:t>$10,000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0" y="1644091"/>
            <a:ext cx="4389120" cy="160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662379"/>
            <a:ext cx="3108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Portal Web de Pedidos (UX + dev + deploy)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1662379"/>
            <a:ext cx="1188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2E8B57"/>
                </a:solidFill>
              </a:rPr>
              <a:t>$10,000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0" y="1806854"/>
            <a:ext cx="4389120" cy="1600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1825142"/>
            <a:ext cx="3108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API ERP Legacy (inventario tiempo real)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79" y="1825142"/>
            <a:ext cx="1188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2E8B57"/>
                </a:solidFill>
              </a:rPr>
              <a:t>$8,000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0" y="1969617"/>
            <a:ext cx="4389120" cy="160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617720" y="1987905"/>
            <a:ext cx="3108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API Sistema Financiero (crédito auto)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79" y="1987905"/>
            <a:ext cx="1188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2E8B57"/>
                </a:solidFill>
              </a:rPr>
              <a:t>$5,000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0" y="2132380"/>
            <a:ext cx="4389120" cy="1600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17720" y="2150668"/>
            <a:ext cx="3108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Sistema QC Digital (app + tablets)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2150668"/>
            <a:ext cx="1188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2E8B57"/>
                </a:solidFill>
              </a:rPr>
              <a:t>$4,000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0" y="2295144"/>
            <a:ext cx="4389120" cy="160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17720" y="2313432"/>
            <a:ext cx="3108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TMS Beetrack (suscripción + integración)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26679" y="2313432"/>
            <a:ext cx="1188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2E8B57"/>
                </a:solidFill>
              </a:rPr>
              <a:t>$5,500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0" y="2457907"/>
            <a:ext cx="4389120" cy="16002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617720" y="2476195"/>
            <a:ext cx="3108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Factura Electrónica Datil.me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26679" y="2476195"/>
            <a:ext cx="1188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2E8B57"/>
                </a:solidFill>
              </a:rPr>
              <a:t>$2,500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0" y="2620670"/>
            <a:ext cx="4389120" cy="1600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617720" y="2638958"/>
            <a:ext cx="3108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Capacitación y gestión del cambio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2638958"/>
            <a:ext cx="1188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0" i="0">
                <a:solidFill>
                  <a:srgbClr val="2E8B57"/>
                </a:solidFill>
              </a:rPr>
              <a:t>$5,000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0" y="2783433"/>
            <a:ext cx="4389120" cy="160020"/>
          </a:xfrm>
          <a:prstGeom prst="rect">
            <a:avLst/>
          </a:prstGeom>
          <a:solidFill>
            <a:srgbClr val="1B2A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17720" y="2801721"/>
            <a:ext cx="310896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TOTAL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26679" y="2801721"/>
            <a:ext cx="1188720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F0AB00"/>
                </a:solidFill>
              </a:rPr>
              <a:t>$50,000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82880" y="3154680"/>
            <a:ext cx="4160520" cy="36576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82880" y="3191256"/>
            <a:ext cx="4160520" cy="1691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74320" y="3227832"/>
            <a:ext cx="397763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E8B57"/>
                </a:solidFill>
              </a:rPr>
              <a:t>📅  PLAN DE IMPLEMENTACIÓN — 90 DÍAS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520440"/>
            <a:ext cx="1280160" cy="384048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01752" y="3557016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FASE 1  (Días 1-30)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600200" y="3557016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Middleware + Portal Web + APIs
→ $33,000 · Elimina trabajo manual inmediato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3959352"/>
            <a:ext cx="1280160" cy="384048"/>
          </a:xfrm>
          <a:prstGeom prst="rect">
            <a:avLst/>
          </a:prstGeom>
          <a:solidFill>
            <a:srgbClr val="F0A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01752" y="3995928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FASE 2  (Días 31-60)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600200" y="3995928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Sistema QC Digital + nuevos roles
→ $4,000 · Reduce reproceso 18%→5%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4398264"/>
            <a:ext cx="1280160" cy="384048"/>
          </a:xfrm>
          <a:prstGeom prst="rect">
            <a:avLst/>
          </a:prstGeom>
          <a:solidFill>
            <a:srgbClr val="2E8B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01752" y="4434840"/>
            <a:ext cx="122529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FFFFFF"/>
                </a:solidFill>
              </a:rPr>
              <a:t>FASE 3  (Días 61-90)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600200" y="44348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444444"/>
                </a:solidFill>
              </a:rPr>
              <a:t>TMS + Facturación + Capacitación
→ $13,000 · Proceso 100% automatizado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0" y="3154680"/>
            <a:ext cx="4389120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572000" y="3191256"/>
            <a:ext cx="4389120" cy="1691640"/>
          </a:xfrm>
          <a:prstGeom prst="rect">
            <a:avLst/>
          </a:prstGeom>
          <a:solidFill>
            <a:srgbClr val="F2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663440" y="3227832"/>
            <a:ext cx="4206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B2A49"/>
                </a:solidFill>
              </a:rPr>
              <a:t>✅  CONCLUSIONES Y ROI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663440" y="3502152"/>
            <a:ext cx="4206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850" b="1">
                <a:solidFill>
                  <a:srgbClr val="2E8B57"/>
                </a:solidFill>
              </a:rPr>
              <a:t>📉  −52.8% tiempo ciclo:  595 → 281 min (&lt; meta 350 min)</a:t>
            </a:r>
          </a:p>
          <a:p>
            <a:pPr algn="l"/>
            <a:r>
              <a:rPr sz="850" b="1">
                <a:solidFill>
                  <a:srgbClr val="2E8B57"/>
                </a:solidFill>
              </a:rPr>
              <a:t>💵  −53.7% costo/pedido:  $101.92 → $47.21 (&lt; meta $70)</a:t>
            </a:r>
          </a:p>
          <a:p>
            <a:pPr algn="l"/>
            <a:r>
              <a:rPr sz="850" b="1">
                <a:solidFill>
                  <a:srgbClr val="2E8B57"/>
                </a:solidFill>
              </a:rPr>
              <a:t>♻  −72.2% reproceso:  18% → 5% (meta cumplida)</a:t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>💡  Ahorro mensual estimado: ~$35,600/mes</a:t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>🔄  Payback: ~1.4 meses sobre inversión de $50,000</a:t>
            </a:r>
          </a:p>
          <a:p>
            <a:pPr algn="l"/>
            <a:r>
              <a:rPr sz="850" b="1">
                <a:solidFill>
                  <a:srgbClr val="0070F2"/>
                </a:solidFill>
              </a:rPr>
              <a:t>📈  ROI a 12 meses: 754%</a:t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>📦  TCO 3 años: $71,200 costo vs $1.28M en ahorros</a:t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/>
            </a:r>
          </a:p>
          <a:p>
            <a:pPr algn="l"/>
            <a:r>
              <a:rPr sz="850" b="0">
                <a:solidFill>
                  <a:srgbClr val="444444"/>
                </a:solidFill>
              </a:rPr>
              <a:t>⚙  Todas las restricciones del caso se cumplen al 100%:</a:t>
            </a:r>
          </a:p>
          <a:p>
            <a:pPr algn="l"/>
            <a:r>
              <a:rPr sz="850" b="0">
                <a:solidFill>
                  <a:srgbClr val="2E8B57"/>
                </a:solidFill>
              </a:rPr>
              <a:t>    ≤2 nuevos roles ✓ · ≤$50K presupuesto ✓ · &lt;$70/pedido ✓</a:t>
            </a:r>
          </a:p>
          <a:p>
            <a:pPr algn="l"/>
            <a:r>
              <a:rPr sz="850" b="0">
                <a:solidFill>
                  <a:srgbClr val="2E8B57"/>
                </a:solidFill>
              </a:rPr>
              <a:t>    120 min fabricación ✓ · 30 min QC ✓ · 07:00-14:00 ✓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4983480"/>
            <a:ext cx="9144000" cy="36576"/>
          </a:xfrm>
          <a:prstGeom prst="rect">
            <a:avLst/>
          </a:prstGeom>
          <a:solidFill>
            <a:srgbClr val="007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2880" y="504748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A99B0"/>
                </a:solidFill>
              </a:rPr>
              <a:t>SAP Signavio Regional Challenge 2026 · INDUPRO S.A. · Equipo ESPOL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8A99B0"/>
                </a:solidFill>
              </a:rPr>
              <a:t>5 /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