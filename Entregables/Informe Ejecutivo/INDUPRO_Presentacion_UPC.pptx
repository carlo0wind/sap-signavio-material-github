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0" y="0"/>
            <a:ext cx="53035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6459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840480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PC_logo_transpar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74320"/>
            <a:ext cx="4572000" cy="1005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0" y="14173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A49"/>
                </a:solidFill>
              </a:rPr>
              <a:t>SAP Signavio Regional
Challenge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2359152"/>
            <a:ext cx="4572000" cy="54864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248716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</a:rPr>
              <a:t>Caso de Estudio: INDUPRO S.A.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944368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C4A"/>
                </a:solidFill>
              </a:rPr>
              <a:t>Transformación Digital del Proceso de Gestión de Pedidos
mediante SAP Signavio Process Transformation Suite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3749039"/>
            <a:ext cx="4572000" cy="36576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3822191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9"/>
                </a:solidFill>
              </a:rPr>
              <a:t>Universidad Peruana de Ciencias Aplicadas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11480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C4A"/>
                </a:solidFill>
              </a:rPr>
              <a:t>Profesor responsable:  Mgtr. Reyes Arce, Balmes Javier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40740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9B0"/>
                </a:solidFill>
              </a:rPr>
              <a:t>Mayo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572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INDUPRO S.A.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914400"/>
            <a:ext cx="329184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1005840"/>
            <a:ext cx="3337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9B0"/>
                </a:solidFill>
              </a:rPr>
              <a:t>Manufactura industrial — Ecuador</a:t>
            </a:r>
          </a:p>
          <a:p>
            <a:pPr algn="l"/>
            <a:r>
              <a:rPr sz="1000" b="0">
                <a:solidFill>
                  <a:srgbClr val="8A99B0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F0AB00"/>
                </a:solidFill>
              </a:rPr>
              <a:t>AS-IS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Tiempo de ciclo:   595 min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Costo por pedido:  $101.92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Tasa de reproceso: 35%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0070F2"/>
                </a:solidFill>
              </a:rPr>
              <a:t>TO-BE  (propuesta)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Tiempo de ciclo:   252.5 min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Costo por pedido:  $55.23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>Tasa de reproceso: 5%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1A7A3C"/>
                </a:solidFill>
              </a:rPr>
              <a:t>Reducción ciclo:   −57.6%</a:t>
            </a:r>
          </a:p>
          <a:p>
            <a:pPr algn="l"/>
            <a:r>
              <a:rPr sz="1000" b="1">
                <a:solidFill>
                  <a:srgbClr val="1A7A3C"/>
                </a:solidFill>
              </a:rPr>
              <a:t>Reducción costo:   −45.8%</a:t>
            </a:r>
          </a:p>
          <a:p>
            <a:pPr algn="l"/>
            <a:r>
              <a:rPr sz="1000" b="1">
                <a:solidFill>
                  <a:srgbClr val="1A7A3C"/>
                </a:solidFill>
              </a:rPr>
              <a:t>ROI a 12 meses:    1,118%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5532120"/>
            <a:ext cx="3429000" cy="658368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557784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70F2"/>
                </a:solidFill>
              </a:rPr>
              <a:t>✔  Verificado con simulación SAP Signavio
    Escenario 1 · One Case · Mon–Fri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66019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A99B0"/>
                </a:solidFill>
              </a:rPr>
              <a:t>0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9144000" cy="82296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64008" cy="8229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79992" y="54864"/>
            <a:ext cx="64008" cy="82296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91440"/>
            <a:ext cx="7863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Diagnóstico AS-IS — Empresa y Problemas Identificados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576072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99B0"/>
                </a:solidFill>
              </a:rPr>
              <a:t>INDUPRO S.A. · Manufactura industrial · Ecuador · 8 ineficiencias estructurales</a:t>
            </a:r>
          </a:p>
        </p:txBody>
      </p:sp>
      <p:pic>
        <p:nvPicPr>
          <p:cNvPr id="9" name="Picture 8" descr="UPC_logo_transpar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188720" cy="640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82880" y="1005840"/>
            <a:ext cx="4160520" cy="45720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1051560"/>
            <a:ext cx="4160520" cy="21488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09728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9"/>
                </a:solidFill>
              </a:rPr>
              <a:t>PERFIL DE EMPRESA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353312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3C4A"/>
                </a:solidFill>
              </a:rPr>
              <a:t/>
            </a:r>
          </a:p>
          <a:p>
            <a:pPr algn="l"/>
            <a:r>
              <a:rPr sz="950" b="0">
                <a:solidFill>
                  <a:srgbClr val="333C4A"/>
                </a:solidFill>
              </a:rPr>
              <a:t>Sector:     Manufactura y distribución industrial</a:t>
            </a:r>
          </a:p>
          <a:p>
            <a:pPr algn="l"/>
            <a:r>
              <a:rPr sz="950" b="0">
                <a:solidFill>
                  <a:srgbClr val="333C4A"/>
                </a:solidFill>
              </a:rPr>
              <a:t>Empleados:  320+ · 2 plantas de producción</a:t>
            </a:r>
          </a:p>
          <a:p>
            <a:pPr algn="l"/>
            <a:r>
              <a:rPr sz="950" b="0">
                <a:solidFill>
                  <a:srgbClr val="333C4A"/>
                </a:solidFill>
              </a:rPr>
              <a:t>Facturación: ~USD 45 millones anuales</a:t>
            </a:r>
          </a:p>
          <a:p>
            <a:pPr algn="l"/>
            <a:r>
              <a:rPr sz="950" b="0">
                <a:solidFill>
                  <a:srgbClr val="333C4A"/>
                </a:solidFill>
              </a:rPr>
              <a:t>Volumen:    ~1,200 pedidos/mes  (40/día)</a:t>
            </a:r>
          </a:p>
          <a:p>
            <a:pPr algn="l"/>
            <a:r>
              <a:rPr sz="950" b="0">
                <a:solidFill>
                  <a:srgbClr val="333C4A"/>
                </a:solidFill>
              </a:rPr>
              <a:t>SKUs:       85 activos</a:t>
            </a:r>
          </a:p>
          <a:p>
            <a:pPr algn="l"/>
            <a:r>
              <a:rPr sz="950" b="0">
                <a:solidFill>
                  <a:srgbClr val="333C4A"/>
                </a:solidFill>
              </a:rPr>
              <a:t>Canal:      Correo y teléfono → Excel manual</a:t>
            </a:r>
          </a:p>
          <a:p>
            <a:pPr algn="l"/>
            <a:r>
              <a:rPr sz="950" b="0">
                <a:solidFill>
                  <a:srgbClr val="333C4A"/>
                </a:solidFill>
              </a:rPr>
              <a:t>ERP:        Sistema legacy sin integración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34340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051560"/>
            <a:ext cx="4343400" cy="21488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109728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102E"/>
                </a:solidFill>
              </a:rPr>
              <a:t>8 PROBLEMAS IDENTIFICADOS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716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3C4A"/>
                </a:solidFill>
              </a:rPr>
              <a:t>P1  Validación manual en Excel → errores y demoras</a:t>
            </a:r>
          </a:p>
          <a:p>
            <a:pPr algn="l"/>
            <a:r>
              <a:rPr sz="950" b="0">
                <a:solidFill>
                  <a:srgbClr val="333C4A"/>
                </a:solidFill>
              </a:rPr>
              <a:t>P2  Sin integración: Sist. Financiero ↔ ERP</a:t>
            </a:r>
          </a:p>
          <a:p>
            <a:pPr algn="l"/>
            <a:r>
              <a:rPr sz="950" b="0">
                <a:solidFill>
                  <a:srgbClr val="333C4A"/>
                </a:solidFill>
              </a:rPr>
              <a:t>P3  Consulta de stock en registros físicos</a:t>
            </a:r>
          </a:p>
          <a:p>
            <a:pPr algn="l"/>
            <a:r>
              <a:rPr sz="950" b="0">
                <a:solidFill>
                  <a:srgbClr val="333C4A"/>
                </a:solidFill>
              </a:rPr>
              <a:t>P4  Confirmación al cliente por correo manual</a:t>
            </a:r>
          </a:p>
          <a:p>
            <a:pPr algn="l"/>
            <a:r>
              <a:rPr sz="950" b="0">
                <a:solidFill>
                  <a:srgbClr val="333C4A"/>
                </a:solidFill>
              </a:rPr>
              <a:t>P5  Órdenes de producción en planillas impresas</a:t>
            </a:r>
          </a:p>
          <a:p>
            <a:pPr algn="l"/>
            <a:r>
              <a:rPr sz="950" b="0">
                <a:solidFill>
                  <a:srgbClr val="C8102E"/>
                </a:solidFill>
              </a:rPr>
              <a:t>P6  QC reactivo al final → 35% de lotes rechazados</a:t>
            </a:r>
          </a:p>
          <a:p>
            <a:pPr algn="l"/>
            <a:r>
              <a:rPr sz="950" b="0">
                <a:solidFill>
                  <a:srgbClr val="333C4A"/>
                </a:solidFill>
              </a:rPr>
              <a:t>P7  Asignación de transporte por llamadas telefónicas</a:t>
            </a:r>
          </a:p>
          <a:p>
            <a:pPr algn="l"/>
            <a:r>
              <a:rPr sz="950" b="0">
                <a:solidFill>
                  <a:srgbClr val="333C4A"/>
                </a:solidFill>
              </a:rPr>
              <a:t>P8  Facturación manual → 20 min adicionales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3291840"/>
            <a:ext cx="8778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2A49"/>
                </a:solidFill>
              </a:rPr>
              <a:t>KPIs AS-IS  —  Escenario 1 · One Case · Simulación SAP Signavio (datos reales)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3584448"/>
            <a:ext cx="214884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" y="3630168"/>
            <a:ext cx="2148840" cy="8686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" y="3657600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9B0"/>
                </a:solidFill>
              </a:rPr>
              <a:t>Tiempo de ciclo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" y="3858768"/>
            <a:ext cx="2020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102E"/>
                </a:solidFill>
              </a:rPr>
              <a:t>595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" y="4151376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</a:rPr>
              <a:t>⚠ Meta: &lt; 350 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3584448"/>
            <a:ext cx="214884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68880" y="3630168"/>
            <a:ext cx="2148840" cy="8686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32888" y="3657600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9B0"/>
                </a:solidFill>
              </a:rPr>
              <a:t>Costo por pedido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32888" y="3858768"/>
            <a:ext cx="2020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102E"/>
                </a:solidFill>
              </a:rPr>
              <a:t>$101.92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32888" y="4151376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</a:rPr>
              <a:t>⚠ Meta: &lt; $70.00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3584448"/>
            <a:ext cx="214884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54880" y="3630168"/>
            <a:ext cx="2148840" cy="8686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18888" y="3657600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9B0"/>
                </a:solidFill>
              </a:rPr>
              <a:t>Tasa de reproceso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18888" y="3858768"/>
            <a:ext cx="2020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102E"/>
                </a:solidFill>
              </a:rPr>
              <a:t>35%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18888" y="4151376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</a:rPr>
              <a:t>⚠ Meta: &lt; 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0880" y="3584448"/>
            <a:ext cx="1874519" cy="4572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40880" y="3630168"/>
            <a:ext cx="1874519" cy="8686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04888" y="3657600"/>
            <a:ext cx="174650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9B0"/>
                </a:solidFill>
              </a:rPr>
              <a:t>Bottlenecks Signavio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04888" y="3858768"/>
            <a:ext cx="1746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0F2"/>
                </a:solidFill>
              </a:rPr>
              <a:t>Ninguno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04888" y="4151376"/>
            <a:ext cx="174650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7A3C"/>
                </a:solidFill>
              </a:rPr>
              <a:t>Recursos suficientes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" y="4663440"/>
            <a:ext cx="8778240" cy="50292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2880" y="4663440"/>
            <a:ext cx="54864" cy="5029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2608" y="470916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333C4A"/>
                </a:solidFill>
              </a:rPr>
              <a:t>Ruta crítica simulada: Fabricación + Reproceso (gateway QC: RECHAZADA=35%). Tiempo puro de ejecución: 9h 55m. Consumo de recursos: 9h 55m. SAP Signavio confirma el diagnóstico con datos objetivos.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2880" y="6601968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9B0"/>
                </a:solidFill>
              </a:rPr>
              <a:t>SAP Signavio Regional Challenge 2026  ·  INDUPRO S.A.  ·  UPC  ·  Mgtr. Reyes Arce, Balmes Javier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66019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FFFFFF"/>
                </a:solidFill>
              </a:rPr>
              <a:t>1/5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9144000" cy="82296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64008" cy="8229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79992" y="54864"/>
            <a:ext cx="64008" cy="82296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91440"/>
            <a:ext cx="7863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Modelado AS-IS — BPMN 2.0 en SAP Signavio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576072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99B0"/>
                </a:solidFill>
              </a:rPr>
              <a:t>7 swimlanes · 15 actividades · 2 gateways XOR · Convención Signavio: IT Systems como artefactos</a:t>
            </a:r>
          </a:p>
        </p:txBody>
      </p:sp>
      <p:pic>
        <p:nvPicPr>
          <p:cNvPr id="9" name="Picture 8" descr="UPC_logo_transpar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188720" cy="640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37160" y="960120"/>
            <a:ext cx="8869680" cy="416052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S-IS - Proceso de gestión de pedidos de INDUPRO S.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60120"/>
            <a:ext cx="8869680" cy="41605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64592" y="987552"/>
            <a:ext cx="2286000" cy="65836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02412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CUELLO DE BOTELLA
Crédito (60 min) + Stock (50 min)
= 110 min secuencial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3720" y="987552"/>
            <a:ext cx="2103120" cy="65836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31152" y="1024128"/>
            <a:ext cx="20299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REPROCESO 35%
QC reactivo al final
+90 min por pedido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230368"/>
            <a:ext cx="9144000" cy="96012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230368"/>
            <a:ext cx="914400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" y="5285232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9B0"/>
                </a:solidFill>
              </a:rPr>
              <a:t>DURACIÓN (ruta crítica)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" y="550468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8102E"/>
                </a:solidFill>
              </a:rPr>
              <a:t>595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5285232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9B0"/>
                </a:solidFill>
              </a:rPr>
              <a:t>COSTO / PEDIDO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550468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8102E"/>
                </a:solidFill>
              </a:rPr>
              <a:t>$101.92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5285232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9B0"/>
                </a:solidFill>
              </a:rPr>
              <a:t>REPROCESO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550468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8102E"/>
                </a:solidFill>
              </a:rPr>
              <a:t>35%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285232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9B0"/>
                </a:solidFill>
              </a:rPr>
              <a:t>ACTIVIDADES MANUALES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50468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A99B0"/>
                </a:solidFill>
              </a:rPr>
              <a:t>12 de 15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" y="6601968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9B0"/>
                </a:solidFill>
              </a:rPr>
              <a:t>SAP Signavio Regional Challenge 2026  ·  INDUPRO S.A.  ·  UPC  ·  Mgtr. Reyes Arce, Balmes Javier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66019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FFFFFF"/>
                </a:solidFill>
              </a:rPr>
              <a:t>2/5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9144000" cy="82296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64008" cy="8229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79992" y="54864"/>
            <a:ext cx="64008" cy="82296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91440"/>
            <a:ext cx="7863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Propuesta TO-BE — 4 Palancas de Transformación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576072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99B0"/>
                </a:solidFill>
              </a:rPr>
              <a:t>$50,000 · 2 nuevos roles · 90 días · 7 IT Systems integrados via SAP Integration Suite</a:t>
            </a:r>
          </a:p>
        </p:txBody>
      </p:sp>
      <p:pic>
        <p:nvPicPr>
          <p:cNvPr id="9" name="Picture 8" descr="UPC_logo_transpar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188720" cy="640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82880" y="1005840"/>
            <a:ext cx="2103120" cy="54864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1060704"/>
            <a:ext cx="2103120" cy="164592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0972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70F2"/>
                </a:solidFill>
              </a:rPr>
              <a:t>1
AUTOMATIZACIÓN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664208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C4A"/>
                </a:solidFill>
              </a:rPr>
              <a:t>Portal Web reemplaza
correo/Excel. Confirmación
y factura automáticas.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04872" y="1005840"/>
            <a:ext cx="2103120" cy="54864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04872" y="1060704"/>
            <a:ext cx="2103120" cy="164592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96312" y="10972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B2A49"/>
                </a:solidFill>
              </a:rPr>
              <a:t>2
DIGITALIZACIÓN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96312" y="1664208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C4A"/>
                </a:solidFill>
              </a:rPr>
              <a:t>ERP + Sistema Financiero
vía APIs REST. Stock y
crédito en tiempo real.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1005840"/>
            <a:ext cx="2103120" cy="5486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26864" y="1060704"/>
            <a:ext cx="2103120" cy="164592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18304" y="10972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0AB00"/>
                </a:solidFill>
              </a:rPr>
              <a:t>3
INTEGRACIÓN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8304" y="1664208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C4A"/>
                </a:solidFill>
              </a:rPr>
              <a:t>SAP Integration Suite
como hub central.
Eliminación de silos.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48856" y="1005840"/>
            <a:ext cx="2103120" cy="54864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48856" y="1060704"/>
            <a:ext cx="2103120" cy="164592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0296" y="10972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7A3C"/>
                </a:solidFill>
              </a:rPr>
              <a:t>4
QC PREVENTIVO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0296" y="1664208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C4A"/>
                </a:solidFill>
              </a:rPr>
              <a:t>Inspector + Operario QC
en-proceso. Reproceso:
35% → 5%.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2816352"/>
            <a:ext cx="4800600" cy="4572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2880" y="2862072"/>
            <a:ext cx="4800600" cy="22402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290779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F2"/>
                </a:solidFill>
              </a:rPr>
              <a:t>STACK TECNOLÓGICO — $50,000 total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3200400"/>
            <a:ext cx="4800600" cy="233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236976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70F2"/>
                </a:solidFill>
              </a:rPr>
              <a:t>SAP Integration Suite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236976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C4A"/>
                </a:solidFill>
              </a:rPr>
              <a:t>Middleware central  —  orquesta todos los sistemas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24528" y="3236976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1A7A3C"/>
                </a:solidFill>
              </a:rPr>
              <a:t>$12,000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3433572"/>
            <a:ext cx="4800600" cy="233172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347014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B2A49"/>
                </a:solidFill>
              </a:rPr>
              <a:t>Portal Web de Pedidos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47014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C4A"/>
                </a:solidFill>
              </a:rPr>
              <a:t>User Task: Act.1 (reemplaza correo/Excel)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24528" y="347014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1A7A3C"/>
                </a:solidFill>
              </a:rPr>
              <a:t>$10,000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" y="3666744"/>
            <a:ext cx="4800600" cy="233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370332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B2A49"/>
                </a:solidFill>
              </a:rPr>
              <a:t>API ERP Legacy (inventario)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7033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C4A"/>
                </a:solidFill>
              </a:rPr>
              <a:t>Service Task: Act.3  —  stock tiempo real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24528" y="37033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1A7A3C"/>
                </a:solidFill>
              </a:rPr>
              <a:t>$8,000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3899915"/>
            <a:ext cx="4800600" cy="233172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3936491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B2A49"/>
                </a:solidFill>
              </a:rPr>
              <a:t>API Sistema Financiero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3936491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C4A"/>
                </a:solidFill>
              </a:rPr>
              <a:t>Service Task: Act.2  —  crédito automático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24528" y="3936491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1A7A3C"/>
                </a:solidFill>
              </a:rPr>
              <a:t>$5,000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2880" y="4133087"/>
            <a:ext cx="4800600" cy="233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4169663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7A3C"/>
                </a:solidFill>
              </a:rPr>
              <a:t>Sistema QC Digital + tablets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20240" y="4169663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C4A"/>
                </a:solidFill>
              </a:rPr>
              <a:t>Act.5 en-proceso + Act.6 inspección final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24528" y="4169663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1A7A3C"/>
                </a:solidFill>
              </a:rPr>
              <a:t>$4,000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2880" y="4366260"/>
            <a:ext cx="4800600" cy="233172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4402836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B2A49"/>
                </a:solidFill>
              </a:rPr>
              <a:t>TMS Beetrack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20240" y="4402836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C4A"/>
                </a:solidFill>
              </a:rPr>
              <a:t>Service Task: Act.10  —  asignación automática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24528" y="4402836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1A7A3C"/>
                </a:solidFill>
              </a:rPr>
              <a:t>$5,500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2880" y="4599432"/>
            <a:ext cx="4800600" cy="233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" y="463600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B2A49"/>
                </a:solidFill>
              </a:rPr>
              <a:t>Facturación Datil.me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20240" y="463600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C4A"/>
                </a:solidFill>
              </a:rPr>
              <a:t>Service Task: Act.12  —  SRI automático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24528" y="463600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1A7A3C"/>
                </a:solidFill>
              </a:rPr>
              <a:t>$2,500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2880" y="4832604"/>
            <a:ext cx="4800600" cy="233172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48691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A99B0"/>
                </a:solidFill>
              </a:rPr>
              <a:t>Capacitación del personal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20240" y="48691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C4A"/>
                </a:solidFill>
              </a:rPr>
              <a:t>40h instructor externo · gestión del cambio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24528" y="486918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1A7A3C"/>
                </a:solidFill>
              </a:rPr>
              <a:t>$3,000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38928" y="2816352"/>
            <a:ext cx="3822191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138928" y="2862072"/>
            <a:ext cx="3822191" cy="22402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276088" y="290779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102E"/>
                </a:solidFill>
              </a:rPr>
              <a:t>2 NUEVOS ROLES  (máx. permitido: 2)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30368" y="3218688"/>
            <a:ext cx="3639312" cy="4572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30368" y="3264408"/>
            <a:ext cx="363931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21808" y="32918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F2"/>
                </a:solidFill>
              </a:rPr>
              <a:t>Analista de Integración de Sistemas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21808" y="3566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C4A"/>
                </a:solidFill>
              </a:rPr>
              <a:t>$18 / hora  ·  Act. todas (administra flujos SAP Integration Suite)
Monitorea APIs, gestiona errores de integración, genera reportes KPI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230368" y="4151376"/>
            <a:ext cx="3639312" cy="4572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230368" y="4197096"/>
            <a:ext cx="363931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321808" y="422452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A3C"/>
                </a:solidFill>
              </a:rPr>
              <a:t>Operario de Control de Calidad en Proceso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21808" y="449884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C4A"/>
                </a:solidFill>
              </a:rPr>
              <a:t>$11 / hora  ·  Act. 5: QC digital durante fabricación
Detecta defectos en tiempo real → reproceso 35% → 5%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138928" y="5102352"/>
            <a:ext cx="3822191" cy="932688"/>
          </a:xfrm>
          <a:prstGeom prst="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138928" y="5102352"/>
            <a:ext cx="54864" cy="932688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239512" y="5138928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0F2"/>
                </a:solidFill>
              </a:rPr>
              <a:t>TIPOLOGÍA DE TAREAS BPMN (Signavio):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39512" y="537667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C4A"/>
                </a:solidFill>
              </a:rPr>
              <a:t>User Task: Portal, App QC, Entrega firma
Service Task: API Crédito, API Stock, TMS, Factura
Send Task: Confirmación automática al cliente
Manual Task: Fabricación, Empaque, Reproceso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82880" y="6601968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9B0"/>
                </a:solidFill>
              </a:rPr>
              <a:t>SAP Signavio Regional Challenge 2026  ·  INDUPRO S.A.  ·  UPC  ·  Mgtr. Reyes Arce, Balmes Javier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503920" y="66019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FFFFFF"/>
                </a:solidFill>
              </a:rPr>
              <a:t>3/5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9144000" cy="82296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64008" cy="8229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79992" y="54864"/>
            <a:ext cx="64008" cy="82296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91440"/>
            <a:ext cx="7863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Modelado TO-BE + Resultados de Simulación Signavio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576072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99B0"/>
                </a:solidFill>
              </a:rPr>
              <a:t>BPMN 2.0 · 9 swimlanes · AND-Split/Join · IT System artifacts · Escenario 1 One Case</a:t>
            </a:r>
          </a:p>
        </p:txBody>
      </p:sp>
      <p:pic>
        <p:nvPicPr>
          <p:cNvPr id="9" name="Picture 8" descr="UPC_logo_transpar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188720" cy="640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37160" y="960120"/>
            <a:ext cx="5760720" cy="333756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O-BE - Proceso de gestión de pedidos de INDUPRO S.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60120"/>
            <a:ext cx="5760720" cy="33375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7160" y="960120"/>
            <a:ext cx="1691640" cy="292608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005840"/>
            <a:ext cx="1572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TO-BE  (rediseñado)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96012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2A49"/>
                </a:solidFill>
              </a:rPr>
              <a:t>COMPARACIÓN KPIs — SIGNAVIO SIMULACIÓN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261872"/>
            <a:ext cx="2971800" cy="292608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59" y="1298448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KPI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29844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AS-IS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129844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TO-BE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29844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554480"/>
            <a:ext cx="2971800" cy="292608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59" y="1609344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C4A"/>
                </a:solidFill>
              </a:rPr>
              <a:t>Tiempo de ciclo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1609344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102E"/>
                </a:solidFill>
              </a:rPr>
              <a:t>595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7808" y="1609344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7A3C"/>
                </a:solidFill>
              </a:rPr>
              <a:t>252.5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609344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7A3C"/>
                </a:solidFill>
              </a:rPr>
              <a:t>−57.6%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1847088"/>
            <a:ext cx="2971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59" y="1901952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C4A"/>
                </a:solidFill>
              </a:rPr>
              <a:t>Costo / pedido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1901952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102E"/>
                </a:solidFill>
              </a:rPr>
              <a:t>$101.92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07808" y="1901952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7A3C"/>
                </a:solidFill>
              </a:rPr>
              <a:t>$55.23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1901952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7A3C"/>
                </a:solidFill>
              </a:rPr>
              <a:t>−45.8%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2139696"/>
            <a:ext cx="2971800" cy="292608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59" y="2194560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C4A"/>
                </a:solidFill>
              </a:rPr>
              <a:t>Reproceso QC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219456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102E"/>
                </a:solidFill>
              </a:rPr>
              <a:t>35%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7808" y="219456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7A3C"/>
                </a:solidFill>
              </a:rPr>
              <a:t>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19456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7A3C"/>
                </a:solidFill>
              </a:rPr>
              <a:t>−85.7%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2432304"/>
            <a:ext cx="2971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0759" y="2487168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C4A"/>
                </a:solidFill>
              </a:rPr>
              <a:t>Verif. crédito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2487168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102E"/>
                </a:solidFill>
              </a:rPr>
              <a:t>60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07808" y="2487168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7A3C"/>
                </a:solidFill>
              </a:rPr>
              <a:t>5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2487168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7A3C"/>
                </a:solidFill>
              </a:rPr>
              <a:t>−91.7%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724912"/>
            <a:ext cx="2971800" cy="292608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80759" y="2779776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C4A"/>
                </a:solidFill>
              </a:rPr>
              <a:t>Consulta stock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2779776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102E"/>
                </a:solidFill>
              </a:rPr>
              <a:t>50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07808" y="2779776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7A3C"/>
                </a:solidFill>
              </a:rPr>
              <a:t>5 min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2779776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7A3C"/>
                </a:solidFill>
              </a:rPr>
              <a:t>−90.0%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3017520"/>
            <a:ext cx="2971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59" y="3072384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C4A"/>
                </a:solidFill>
              </a:rPr>
              <a:t>Confirmación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3072384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102E"/>
                </a:solidFill>
              </a:rPr>
              <a:t>20 min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07808" y="3072384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7A3C"/>
                </a:solidFill>
              </a:rPr>
              <a:t>1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3072384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7A3C"/>
                </a:solidFill>
              </a:rPr>
              <a:t>−95.0%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3310128"/>
            <a:ext cx="2971800" cy="292608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80759" y="3364992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C4A"/>
                </a:solidFill>
              </a:rPr>
              <a:t>Asig. transporte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3364992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102E"/>
                </a:solidFill>
              </a:rPr>
              <a:t>30 min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07808" y="3364992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7A3C"/>
                </a:solidFill>
              </a:rPr>
              <a:t>5 min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3364992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7A3C"/>
                </a:solidFill>
              </a:rPr>
              <a:t>−83.3%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35040" y="3602736"/>
            <a:ext cx="2971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80759" y="3657600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C4A"/>
                </a:solidFill>
              </a:rPr>
              <a:t>Facturación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03720" y="36576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102E"/>
                </a:solidFill>
              </a:rPr>
              <a:t>20 min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07808" y="36576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7A3C"/>
                </a:solidFill>
              </a:rPr>
              <a:t>0.5 min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21040" y="36576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7A3C"/>
                </a:solidFill>
              </a:rPr>
              <a:t>−97.5%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35040" y="3895344"/>
            <a:ext cx="2971800" cy="292608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80759" y="3950207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C4A"/>
                </a:solidFill>
              </a:rPr>
              <a:t>Bottlenecks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03720" y="3950207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9B0"/>
                </a:solidFill>
              </a:rPr>
              <a:t>---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07808" y="3950207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7A3C"/>
                </a:solidFill>
              </a:rPr>
              <a:t>Ninguno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21040" y="3950207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7A3C"/>
                </a:solidFill>
              </a:rPr>
              <a:t>✔ OK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7160" y="43434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2A49"/>
                </a:solidFill>
              </a:rPr>
              <a:t>SIMULACIÓN AS-IS — SAP Signavio Escenario 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37160" y="4617720"/>
            <a:ext cx="2743200" cy="164592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Escenario 1 AS 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4617720"/>
            <a:ext cx="2743200" cy="164592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3063240" y="43434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7A3C"/>
                </a:solidFill>
              </a:rPr>
              <a:t>SIMULACIÓN TO-BE — SAP Signavio Escenario 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063240" y="4617720"/>
            <a:ext cx="2743200" cy="164592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Escenario 1 TO 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240" y="4617720"/>
            <a:ext cx="2743200" cy="1645920"/>
          </a:xfrm>
          <a:prstGeom prst="rect">
            <a:avLst/>
          </a:prstGeom>
        </p:spPr>
      </p:pic>
      <p:sp>
        <p:nvSpPr>
          <p:cNvPr id="71" name="Rectangle 70"/>
          <p:cNvSpPr/>
          <p:nvPr/>
        </p:nvSpPr>
        <p:spPr>
          <a:xfrm>
            <a:off x="5989320" y="4343400"/>
            <a:ext cx="3017520" cy="1920240"/>
          </a:xfrm>
          <a:prstGeom prst="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89320" y="4343400"/>
            <a:ext cx="54864" cy="192024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89904" y="438912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0F2"/>
                </a:solidFill>
              </a:rPr>
              <a:t>PARÁMETROS SIMULACIÓN: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89904" y="4645152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C4A"/>
                </a:solidFill>
              </a:rPr>
              <a:t>Duration: Min. 0:30 · Máx. 2:00 (fabricación)</a:t>
            </a:r>
          </a:p>
          <a:p>
            <a:pPr algn="l"/>
            <a:r>
              <a:rPr sz="800" b="0">
                <a:solidFill>
                  <a:srgbClr val="333C4A"/>
                </a:solidFill>
              </a:rPr>
              <a:t>Frequency: Mon–Fri · 20 instancias total</a:t>
            </a:r>
          </a:p>
          <a:p>
            <a:pPr algn="l"/>
            <a:r>
              <a:rPr sz="800" b="0">
                <a:solidFill>
                  <a:srgbClr val="333C4A"/>
                </a:solidFill>
              </a:rPr>
              <a:t>XOR Calidad: APROBADA 65% / RECHAZADA 35%</a:t>
            </a:r>
          </a:p>
          <a:p>
            <a:pPr algn="l"/>
            <a:r>
              <a:rPr sz="800" b="0">
                <a:solidFill>
                  <a:srgbClr val="333C4A"/>
                </a:solidFill>
              </a:rPr>
              <a:t>XOR Stock: No hay stock 18% / Sí 82%</a:t>
            </a:r>
          </a:p>
          <a:p>
            <a:pPr algn="l"/>
            <a:r>
              <a:rPr sz="800" b="0">
                <a:solidFill>
                  <a:srgbClr val="333C4A"/>
                </a:solidFill>
              </a:rPr>
              <a:t>TO-BE gateway QC: Aprueba 95% / Rechaza 5%</a:t>
            </a:r>
          </a:p>
          <a:p>
            <a:pPr algn="l"/>
            <a:r>
              <a:rPr sz="800" b="0">
                <a:solidFill>
                  <a:srgbClr val="8A99B0"/>
                </a:solidFill>
              </a:rPr>
              <a:t>Ventana despacho: 07:00–14:00 (restricción 4.1)</a:t>
            </a:r>
          </a:p>
          <a:p>
            <a:pPr algn="l"/>
            <a:r>
              <a:rPr sz="800" b="1">
                <a:solidFill>
                  <a:srgbClr val="1A7A3C"/>
                </a:solidFill>
              </a:rPr>
              <a:t>Bottlenecks detectados: NINGUNO en ambos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82880" y="6601968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9B0"/>
                </a:solidFill>
              </a:rPr>
              <a:t>SAP Signavio Regional Challenge 2026  ·  INDUPRO S.A.  ·  UPC  ·  Mgtr. Reyes Arce, Balmes Javier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03920" y="66019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FFFFFF"/>
                </a:solidFill>
              </a:rPr>
              <a:t>4/5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9144000" cy="82296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64008" cy="8229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79992" y="54864"/>
            <a:ext cx="64008" cy="82296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91440"/>
            <a:ext cx="7863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Plan de Implementación · Presupuesto · Conclusiones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576072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99B0"/>
                </a:solidFill>
              </a:rPr>
              <a:t>3 fases · 90 días · $50,000 · ROI 1,118% · 5/5 KPIs del caso cumplidos</a:t>
            </a:r>
          </a:p>
        </p:txBody>
      </p:sp>
      <p:pic>
        <p:nvPicPr>
          <p:cNvPr id="9" name="Picture 8" descr="UPC_logo_transpar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188720" cy="640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82880" y="1005840"/>
            <a:ext cx="4160520" cy="4572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1051560"/>
            <a:ext cx="4160520" cy="219456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09728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F2"/>
                </a:solidFill>
              </a:rPr>
              <a:t>PRESUPUESTO — USD $50,000 (límite exacto del caso)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389888"/>
            <a:ext cx="4160520" cy="2039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417320"/>
            <a:ext cx="25603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C4A"/>
                </a:solidFill>
              </a:rPr>
              <a:t>SAP Integration Suite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1417320"/>
            <a:ext cx="77724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7A3C"/>
                </a:solidFill>
              </a:rPr>
              <a:t>$12,000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417320"/>
            <a:ext cx="54864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A99B0"/>
                </a:solidFill>
              </a:rPr>
              <a:t>24%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593799"/>
            <a:ext cx="4160520" cy="203911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1621231"/>
            <a:ext cx="25603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C4A"/>
                </a:solidFill>
              </a:rPr>
              <a:t>Portal Web de Pedidos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2928" y="1621231"/>
            <a:ext cx="77724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7A3C"/>
                </a:solidFill>
              </a:rPr>
              <a:t>$10,000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1621231"/>
            <a:ext cx="54864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A99B0"/>
                </a:solidFill>
              </a:rPr>
              <a:t>20%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797710"/>
            <a:ext cx="4160520" cy="2039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1825142"/>
            <a:ext cx="25603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C4A"/>
                </a:solidFill>
              </a:rPr>
              <a:t>API ERP Legacy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2928" y="1825142"/>
            <a:ext cx="77724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7A3C"/>
                </a:solidFill>
              </a:rPr>
              <a:t>$8,000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1825142"/>
            <a:ext cx="54864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A99B0"/>
                </a:solidFill>
              </a:rPr>
              <a:t>16%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2001621"/>
            <a:ext cx="4160520" cy="203911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2029053"/>
            <a:ext cx="25603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C4A"/>
                </a:solidFill>
              </a:rPr>
              <a:t>API Sistema Financiero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52928" y="2029053"/>
            <a:ext cx="77724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7A3C"/>
                </a:solidFill>
              </a:rPr>
              <a:t>$5,000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2029053"/>
            <a:ext cx="54864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A99B0"/>
                </a:solidFill>
              </a:rPr>
              <a:t>10%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2205532"/>
            <a:ext cx="4160520" cy="2039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2232964"/>
            <a:ext cx="25603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C4A"/>
                </a:solidFill>
              </a:rPr>
              <a:t>TMS Beetrack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52928" y="2232964"/>
            <a:ext cx="77724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7A3C"/>
                </a:solidFill>
              </a:rPr>
              <a:t>$5,500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2232964"/>
            <a:ext cx="54864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A99B0"/>
                </a:solidFill>
              </a:rPr>
              <a:t>11%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2409444"/>
            <a:ext cx="4160520" cy="203911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2436875"/>
            <a:ext cx="25603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C4A"/>
                </a:solidFill>
              </a:rPr>
              <a:t>Sistema QC Digital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52928" y="2436875"/>
            <a:ext cx="77724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7A3C"/>
                </a:solidFill>
              </a:rPr>
              <a:t>$4,000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2436875"/>
            <a:ext cx="54864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A99B0"/>
                </a:solidFill>
              </a:rPr>
              <a:t>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" y="2613355"/>
            <a:ext cx="4160520" cy="2039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2640787"/>
            <a:ext cx="25603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C4A"/>
                </a:solidFill>
              </a:rPr>
              <a:t>Datil.me (Facturación)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52928" y="2640787"/>
            <a:ext cx="77724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7A3C"/>
                </a:solidFill>
              </a:rPr>
              <a:t>$2,500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2640787"/>
            <a:ext cx="54864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A99B0"/>
                </a:solidFill>
              </a:rPr>
              <a:t>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2817266"/>
            <a:ext cx="4160520" cy="203911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2844698"/>
            <a:ext cx="25603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C4A"/>
                </a:solidFill>
              </a:rPr>
              <a:t>Capacitación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52928" y="2844698"/>
            <a:ext cx="77724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7A3C"/>
                </a:solidFill>
              </a:rPr>
              <a:t>$3,000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2844698"/>
            <a:ext cx="54864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A99B0"/>
                </a:solidFill>
              </a:rPr>
              <a:t>6%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2880" y="3021177"/>
            <a:ext cx="4160520" cy="203911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3048609"/>
            <a:ext cx="25603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52928" y="3048609"/>
            <a:ext cx="77724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F0AB00"/>
                </a:solidFill>
              </a:rPr>
              <a:t>$50,000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3048609"/>
            <a:ext cx="54864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17720" y="1005840"/>
            <a:ext cx="4297680" cy="4572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617720" y="1051560"/>
            <a:ext cx="4297680" cy="219456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4880" y="109728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A3C"/>
                </a:solidFill>
              </a:rPr>
              <a:t>PLAN DE IMPLEMENTACIÓN — 90 DÍAS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09160" y="1417320"/>
            <a:ext cx="1005840" cy="530352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54880" y="1463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FASE 1
Días 1–30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06440" y="1463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C4A"/>
                </a:solidFill>
              </a:rPr>
              <a:t>Portal Web + SAP Integration Suite
+ APIs ERP y Financiero
→ Elimina trabajo manual inmediato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0" y="157276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0070F2"/>
                </a:solidFill>
              </a:rPr>
              <a:t>$35,000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09160" y="2002536"/>
            <a:ext cx="1005840" cy="53035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54880" y="2048255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FASE 2
Días 31–60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06440" y="2048255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C4A"/>
                </a:solidFill>
              </a:rPr>
              <a:t>Sistema QC Digital + tablets
+ Nuevos roles: QC y Analista Int.
→ Reproceso 35% → 5%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20" y="215798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1A7A3C"/>
                </a:solidFill>
              </a:rPr>
              <a:t>$9,000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09160" y="2587752"/>
            <a:ext cx="1005840" cy="530352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54880" y="263347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FASE 3
Días 61–90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06440" y="26334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C4A"/>
                </a:solidFill>
              </a:rPr>
              <a:t>TMS Beetrack + Datil.me
+ Capacitación + Go-Live
→ Proceso 100% automatizado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46720" y="274320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0AB00"/>
                </a:solidFill>
              </a:rPr>
              <a:t>$6,000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2880" y="3364992"/>
            <a:ext cx="4160520" cy="4572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82880" y="3410712"/>
            <a:ext cx="4160520" cy="14630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345643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9"/>
                </a:solidFill>
              </a:rPr>
              <a:t>PROCESS MINING — SAP Signavio Process Intelligence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0040" y="3749039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C4A"/>
                </a:solidFill>
              </a:rPr>
              <a:t>Extrae event logs del ERP para descubrir el proceso real</a:t>
            </a:r>
          </a:p>
          <a:p>
            <a:pPr algn="l"/>
            <a:r>
              <a:rPr sz="900" b="0">
                <a:solidFill>
                  <a:srgbClr val="333C4A"/>
                </a:solidFill>
              </a:rPr>
              <a:t>(as-executed) y compara contra el modelo BPMN TO-BE.</a:t>
            </a:r>
          </a:p>
          <a:p>
            <a:pPr algn="l"/>
            <a:r>
              <a:rPr sz="900" b="0">
                <a:solidFill>
                  <a:srgbClr val="333C4A"/>
                </a:solidFill>
              </a:rPr>
              <a:t/>
            </a:r>
          </a:p>
          <a:p>
            <a:pPr algn="l"/>
            <a:r>
              <a:rPr sz="900" b="0">
                <a:solidFill>
                  <a:srgbClr val="333C4A"/>
                </a:solidFill>
              </a:rPr>
              <a:t>✔  Detecta desviaciones: modelo vs. ejecución real</a:t>
            </a:r>
          </a:p>
          <a:p>
            <a:pPr algn="l"/>
            <a:r>
              <a:rPr sz="900" b="0">
                <a:solidFill>
                  <a:srgbClr val="333C4A"/>
                </a:solidFill>
              </a:rPr>
              <a:t>✔  Cuantifica tiempos y cuellos de botella con datos reales</a:t>
            </a:r>
          </a:p>
          <a:p>
            <a:pPr algn="l"/>
            <a:r>
              <a:rPr sz="900" b="0">
                <a:solidFill>
                  <a:srgbClr val="333C4A"/>
                </a:solidFill>
              </a:rPr>
              <a:t>✔  Conformance checking semana a semana post-implementación</a:t>
            </a:r>
          </a:p>
          <a:p>
            <a:pPr algn="l"/>
            <a:r>
              <a:rPr sz="900" b="0">
                <a:solidFill>
                  <a:srgbClr val="333C4A"/>
                </a:solidFill>
              </a:rPr>
              <a:t>✔  Alimenta el ciclo de mejora continua (TO-BE → AS-IS futuro)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617720" y="3364992"/>
            <a:ext cx="429768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617720" y="3410712"/>
            <a:ext cx="4297680" cy="14630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754880" y="345643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102E"/>
                </a:solidFill>
              </a:rPr>
              <a:t>RESULTADOS — 5/5 KPIs DEL CASO CUMPLIDOS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54880" y="3749039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7A3C"/>
                </a:solidFill>
              </a:rPr>
              <a:t>✔  Tiempo ciclo:  595 → 252.5 min  (−57.6%)  &lt;  Meta 350 min</a:t>
            </a:r>
          </a:p>
          <a:p>
            <a:pPr algn="l"/>
            <a:r>
              <a:rPr sz="900" b="1">
                <a:solidFill>
                  <a:srgbClr val="1A7A3C"/>
                </a:solidFill>
              </a:rPr>
              <a:t>✔  Costo/pedido:  $101.92 → $55.23  (−45.8%)  &lt;  Meta $70.00</a:t>
            </a:r>
          </a:p>
          <a:p>
            <a:pPr algn="l"/>
            <a:r>
              <a:rPr sz="900" b="1">
                <a:solidFill>
                  <a:srgbClr val="1A7A3C"/>
                </a:solidFill>
              </a:rPr>
              <a:t>✔  Reproceso:     35% → 5%  (−85.7%)  ≤  Meta 5%</a:t>
            </a:r>
          </a:p>
          <a:p>
            <a:pPr algn="l"/>
            <a:r>
              <a:rPr sz="900" b="1">
                <a:solidFill>
                  <a:srgbClr val="1A7A3C"/>
                </a:solidFill>
              </a:rPr>
              <a:t>✔  Nuevos roles:  2 de 2 (máx. permitido)</a:t>
            </a:r>
          </a:p>
          <a:p>
            <a:pPr algn="l"/>
            <a:r>
              <a:rPr sz="900" b="1">
                <a:solidFill>
                  <a:srgbClr val="1A7A3C"/>
                </a:solidFill>
              </a:rPr>
              <a:t>✔  Presupuesto:   $50,000 exactos  ≤  Límite $50K</a:t>
            </a:r>
          </a:p>
          <a:p>
            <a:pPr algn="l"/>
            <a:r>
              <a:rPr sz="900" b="0">
                <a:solidFill>
                  <a:srgbClr val="1A7A3C"/>
                </a:solidFill>
              </a:rPr>
              <a:t/>
            </a:r>
          </a:p>
          <a:p>
            <a:pPr algn="l"/>
            <a:r>
              <a:rPr sz="900" b="1">
                <a:solidFill>
                  <a:srgbClr val="0070F2"/>
                </a:solidFill>
              </a:rPr>
              <a:t>ROI 12 meses:  1,118%  ·  Payback: ~0.9 meses</a:t>
            </a:r>
          </a:p>
          <a:p>
            <a:pPr algn="l"/>
            <a:r>
              <a:rPr sz="900" b="0">
                <a:solidFill>
                  <a:srgbClr val="333C4A"/>
                </a:solidFill>
              </a:rPr>
              <a:t>Ahorro mensual: $56,028  (1,200 pedidos × $46.69)</a:t>
            </a:r>
          </a:p>
          <a:p>
            <a:pPr algn="l"/>
            <a:r>
              <a:rPr sz="900" b="0">
                <a:solidFill>
                  <a:srgbClr val="333C4A"/>
                </a:solidFill>
              </a:rPr>
              <a:t>Fabricación 120 min ✔  ·  QC 30 min ✔  ·  07:00–14:00 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4956048"/>
            <a:ext cx="914400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0" y="5010912"/>
            <a:ext cx="9144000" cy="91440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74320" y="5065776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Universidad Peruana de Ciencias Aplicadas  ·  SAP Signavio Regional Challenge 2026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4320" y="53492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9B0"/>
                </a:solidFill>
              </a:rPr>
              <a:t>Profesor: Mgtr. Reyes Arce, Balmes Javier</a:t>
            </a:r>
          </a:p>
        </p:txBody>
      </p:sp>
      <p:pic>
        <p:nvPicPr>
          <p:cNvPr id="76" name="Picture 75" descr="UPC_logo_transpar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5029200"/>
            <a:ext cx="1737360" cy="777240"/>
          </a:xfrm>
          <a:prstGeom prst="rect">
            <a:avLst/>
          </a:prstGeom>
        </p:spPr>
      </p:pic>
      <p:sp>
        <p:nvSpPr>
          <p:cNvPr id="77" name="Rectangle 76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82880" y="6601968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9B0"/>
                </a:solidFill>
              </a:rPr>
              <a:t>SAP Signavio Regional Challenge 2026  ·  INDUPRO S.A.  ·  UPC  ·  Mgtr. Reyes Arce, Balmes Javier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03920" y="66019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FFFFFF"/>
                </a:solidFill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